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79" autoAdjust="0"/>
  </p:normalViewPr>
  <p:slideViewPr>
    <p:cSldViewPr snapToGrid="0">
      <p:cViewPr varScale="1">
        <p:scale>
          <a:sx n="78" d="100"/>
          <a:sy n="78"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18DF-E5C7-0E61-0046-86DC59FBFD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9FF692-581F-B43F-721A-CCA34C082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B09BB4-0414-35EB-991F-7DD26FC1522C}"/>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89239C4E-FE76-EA09-9665-32F4CA92A2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BD003C-DEEB-F410-29B8-21C8DF8A30E1}"/>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80818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1A0FC-9EA2-C05E-2373-6678D86700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B29A30-2323-DD12-0CB3-5D24975AC9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C7A8A4-2017-D3A9-329B-34992AB6F143}"/>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B318F563-659B-CB66-2FB9-6FE223F508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D1C08D-56AE-7706-FEF9-5C494E5F1D3E}"/>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2101016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6D51-1B89-2386-8B31-A8E64AB779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0E102A-68AC-91FC-6458-44D7F690C3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D2855B-74E1-1834-9F55-7AE833B8F30C}"/>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B5CEDC88-5D32-9504-70D4-6A44EFE460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022BF7-F5F5-FF13-34F2-33F38C353FC1}"/>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1221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C1C9-2F5E-A2A0-662E-FEE41A21D9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DFF3B9-8D64-0D1F-6C16-E7B30221A9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DD8A7A-07A1-5291-E120-C465FA4DF7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CB14B4-4CA5-8424-7DC9-1DC596166799}"/>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6" name="Footer Placeholder 5">
            <a:extLst>
              <a:ext uri="{FF2B5EF4-FFF2-40B4-BE49-F238E27FC236}">
                <a16:creationId xmlns:a16="http://schemas.microsoft.com/office/drawing/2014/main" id="{F4564F67-023C-03BC-9450-593117F2F7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ED8FC9-C648-DAA3-CAD1-F96B78009087}"/>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339835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43F1D-F8EC-0B8A-ECA8-DCCE5F5088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C3728C-4B8A-A2E6-4025-76555B4C54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725DAD-77CC-0735-6FC7-72AD33789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1A26E7-B009-3390-BB11-B3E4FA62E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FDC52-B5B3-5B9A-E06D-BEBDDFEFFE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754DEA-A16C-6757-9CA0-49E2C522334C}"/>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8" name="Footer Placeholder 7">
            <a:extLst>
              <a:ext uri="{FF2B5EF4-FFF2-40B4-BE49-F238E27FC236}">
                <a16:creationId xmlns:a16="http://schemas.microsoft.com/office/drawing/2014/main" id="{7D10F449-4C18-7611-DE09-5F8D4A6A8F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6ECE5A-8AC0-7792-1A87-BA3C48EDEC6F}"/>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402394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8C833-0CFB-1C14-A0E5-9B66EC8C81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72832F-A9E5-7D6D-7365-5FFB4B653C5A}"/>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4" name="Footer Placeholder 3">
            <a:extLst>
              <a:ext uri="{FF2B5EF4-FFF2-40B4-BE49-F238E27FC236}">
                <a16:creationId xmlns:a16="http://schemas.microsoft.com/office/drawing/2014/main" id="{B6357E62-8964-7EC5-AA11-F06DEDB53E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C1B676-7B34-72E3-83CF-4DCDF4A55504}"/>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011163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97769-65DF-3668-0FB6-5DE9C7F8776E}"/>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3" name="Footer Placeholder 2">
            <a:extLst>
              <a:ext uri="{FF2B5EF4-FFF2-40B4-BE49-F238E27FC236}">
                <a16:creationId xmlns:a16="http://schemas.microsoft.com/office/drawing/2014/main" id="{347335E2-408E-6557-BCA8-AA46396D1E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D9E1CD-9317-421C-7A25-FFEEC999C394}"/>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4165001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859DE-548F-AE50-414B-E742AF86D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F3DF81-D45A-F349-68B0-DF3ACDD653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FABD95-2A34-D87E-1BF6-9C403E431E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0EAF9-2B7A-7D48-56A4-1EEAEF5E9AAB}"/>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6" name="Footer Placeholder 5">
            <a:extLst>
              <a:ext uri="{FF2B5EF4-FFF2-40B4-BE49-F238E27FC236}">
                <a16:creationId xmlns:a16="http://schemas.microsoft.com/office/drawing/2014/main" id="{5C1BE701-4033-2676-A587-C8BC816D5C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785463-68C4-7970-C95C-AA0F8B2FD696}"/>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1719357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EB01D-AC01-8C32-CB5D-430201F5E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73A249-4AEC-A0D7-0EC4-FF8D4A46E5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D8C6F1-8BE1-BA6B-4180-71F01CDE1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3D9309-238D-7E0F-1691-7CA8F99E7470}"/>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6" name="Footer Placeholder 5">
            <a:extLst>
              <a:ext uri="{FF2B5EF4-FFF2-40B4-BE49-F238E27FC236}">
                <a16:creationId xmlns:a16="http://schemas.microsoft.com/office/drawing/2014/main" id="{8718D3FF-2837-C5EC-7AD9-B55B711194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B31E55-98D8-2747-6ABF-7FA4CF427C4B}"/>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3772013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0CA9-B9A4-DDA2-4D68-7100CD0182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73DD52-7DC7-ED47-35B4-D0DCEBB0BB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2C969-35B3-D377-FFA5-521C1CED789C}"/>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6967B490-9C9F-0585-EA4A-475665A03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9F09D-00A0-B76D-7277-9D7914EEFD38}"/>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4167971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93F14C-0022-2825-D5D0-15F7DE8C38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F005A9-F646-D39A-2C36-4BA9539524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6F8187-7327-C4A7-D617-656DACFDF90B}"/>
              </a:ext>
            </a:extLst>
          </p:cNvPr>
          <p:cNvSpPr>
            <a:spLocks noGrp="1"/>
          </p:cNvSpPr>
          <p:nvPr>
            <p:ph type="dt" sz="half" idx="10"/>
          </p:nvPr>
        </p:nvSpPr>
        <p:spPr/>
        <p:txBody>
          <a:body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524D31F8-6C8B-A6D0-3A1C-3BAF11C77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DD4F3-7103-B384-5827-170D19FA9CBF}"/>
              </a:ext>
            </a:extLst>
          </p:cNvPr>
          <p:cNvSpPr>
            <a:spLocks noGrp="1"/>
          </p:cNvSpPr>
          <p:nvPr>
            <p:ph type="sldNum" sz="quarter" idx="12"/>
          </p:nvPr>
        </p:nvSpPr>
        <p:spPr/>
        <p:txBody>
          <a:bodyPr/>
          <a:lstStyle/>
          <a:p>
            <a:fld id="{3A5FA262-2C6B-4CA6-9937-BB5EB7D673AF}" type="slidenum">
              <a:rPr lang="en-IN" smtClean="0"/>
              <a:t>‹#›</a:t>
            </a:fld>
            <a:endParaRPr lang="en-IN"/>
          </a:p>
        </p:txBody>
      </p:sp>
    </p:spTree>
    <p:extLst>
      <p:ext uri="{BB962C8B-B14F-4D97-AF65-F5344CB8AC3E}">
        <p14:creationId xmlns:p14="http://schemas.microsoft.com/office/powerpoint/2010/main" val="14845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6904E0-14D5-5C6F-CC4D-B1BCF9C43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2632C5-2E8B-F344-4EBF-6B4AF6BFC9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49E123-7D92-15AA-0CAC-730C4F73B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D79AD8-EF31-46E3-86FB-237CE4C72864}" type="datetimeFigureOut">
              <a:rPr lang="en-IN" smtClean="0"/>
              <a:t>03-04-2026</a:t>
            </a:fld>
            <a:endParaRPr lang="en-IN"/>
          </a:p>
        </p:txBody>
      </p:sp>
      <p:sp>
        <p:nvSpPr>
          <p:cNvPr id="5" name="Footer Placeholder 4">
            <a:extLst>
              <a:ext uri="{FF2B5EF4-FFF2-40B4-BE49-F238E27FC236}">
                <a16:creationId xmlns:a16="http://schemas.microsoft.com/office/drawing/2014/main" id="{3EA81148-1F81-39DE-346F-833FBA4A5E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C0404E-2D43-C680-880D-F00E661515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5FA262-2C6B-4CA6-9937-BB5EB7D673AF}" type="slidenum">
              <a:rPr lang="en-IN" smtClean="0"/>
              <a:t>‹#›</a:t>
            </a:fld>
            <a:endParaRPr lang="en-IN"/>
          </a:p>
        </p:txBody>
      </p:sp>
    </p:spTree>
    <p:extLst>
      <p:ext uri="{BB962C8B-B14F-4D97-AF65-F5344CB8AC3E}">
        <p14:creationId xmlns:p14="http://schemas.microsoft.com/office/powerpoint/2010/main" val="5744896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4E0BD27-D139-676A-05C7-0D113577B529}"/>
              </a:ext>
            </a:extLst>
          </p:cNvPr>
          <p:cNvGraphicFramePr>
            <a:graphicFrameLocks noGrp="1"/>
          </p:cNvGraphicFramePr>
          <p:nvPr>
            <p:extLst>
              <p:ext uri="{D42A27DB-BD31-4B8C-83A1-F6EECF244321}">
                <p14:modId xmlns:p14="http://schemas.microsoft.com/office/powerpoint/2010/main" val="4116730137"/>
              </p:ext>
            </p:extLst>
          </p:nvPr>
        </p:nvGraphicFramePr>
        <p:xfrm>
          <a:off x="1715278" y="1642415"/>
          <a:ext cx="8761444" cy="3765327"/>
        </p:xfrm>
        <a:graphic>
          <a:graphicData uri="http://schemas.openxmlformats.org/drawingml/2006/table">
            <a:tbl>
              <a:tblPr>
                <a:tableStyleId>{793D81CF-94F2-401A-BA57-92F5A7B2D0C5}</a:tableStyleId>
              </a:tblPr>
              <a:tblGrid>
                <a:gridCol w="8761444">
                  <a:extLst>
                    <a:ext uri="{9D8B030D-6E8A-4147-A177-3AD203B41FA5}">
                      <a16:colId xmlns:a16="http://schemas.microsoft.com/office/drawing/2014/main" val="2419357680"/>
                    </a:ext>
                  </a:extLst>
                </a:gridCol>
              </a:tblGrid>
              <a:tr h="3765327">
                <a:tc>
                  <a:txBody>
                    <a:bodyPr/>
                    <a:lstStyle/>
                    <a:p>
                      <a:pPr marL="63500" algn="ctr"/>
                      <a:r>
                        <a:rPr lang="en-US" sz="2400" b="1" kern="50" dirty="0">
                          <a:effectLst/>
                        </a:rPr>
                        <a:t>Mini Project Topic / Title:</a:t>
                      </a:r>
                    </a:p>
                    <a:p>
                      <a:pPr marL="63500" algn="ctr"/>
                      <a:endParaRPr lang="en-US" sz="2400" b="1" kern="50" dirty="0">
                        <a:effectLst/>
                      </a:endParaRPr>
                    </a:p>
                    <a:p>
                      <a:pPr marL="63500" algn="ctr"/>
                      <a:endParaRPr lang="en-US" sz="2400" b="1" kern="50" dirty="0">
                        <a:effectLst/>
                      </a:endParaRPr>
                    </a:p>
                    <a:p>
                      <a:pPr marL="63500" algn="ctr"/>
                      <a:r>
                        <a:rPr lang="en-IN" sz="2400" b="1" kern="50" dirty="0">
                          <a:effectLst/>
                          <a:latin typeface="Times New Roman" panose="02020603050405020304" pitchFamily="18" charset="0"/>
                          <a:ea typeface="Lucida Sans Unicode" panose="020B0602030504020204" pitchFamily="34" charset="0"/>
                        </a:rPr>
                        <a:t>Prepaid Meter for Efficient Energy Management and Overvoltage Protection.</a:t>
                      </a:r>
                    </a:p>
                  </a:txBody>
                  <a:tcPr marL="34925" marR="34925" marT="34925" marB="34925"/>
                </a:tc>
                <a:extLst>
                  <a:ext uri="{0D108BD9-81ED-4DB2-BD59-A6C34878D82A}">
                    <a16:rowId xmlns:a16="http://schemas.microsoft.com/office/drawing/2014/main" val="197395812"/>
                  </a:ext>
                </a:extLst>
              </a:tr>
            </a:tbl>
          </a:graphicData>
        </a:graphic>
      </p:graphicFrame>
      <p:pic>
        <p:nvPicPr>
          <p:cNvPr id="6" name="Picture 5">
            <a:extLst>
              <a:ext uri="{FF2B5EF4-FFF2-40B4-BE49-F238E27FC236}">
                <a16:creationId xmlns:a16="http://schemas.microsoft.com/office/drawing/2014/main" id="{A309152A-B27E-5010-4CCC-17226F789333}"/>
              </a:ext>
            </a:extLst>
          </p:cNvPr>
          <p:cNvPicPr>
            <a:picLocks noChangeAspect="1"/>
          </p:cNvPicPr>
          <p:nvPr/>
        </p:nvPicPr>
        <p:blipFill>
          <a:blip r:embed="rId2"/>
          <a:stretch>
            <a:fillRect/>
          </a:stretch>
        </p:blipFill>
        <p:spPr>
          <a:xfrm>
            <a:off x="3357465" y="303395"/>
            <a:ext cx="5477070" cy="1115689"/>
          </a:xfrm>
          <a:prstGeom prst="rect">
            <a:avLst/>
          </a:prstGeom>
        </p:spPr>
      </p:pic>
    </p:spTree>
    <p:extLst>
      <p:ext uri="{BB962C8B-B14F-4D97-AF65-F5344CB8AC3E}">
        <p14:creationId xmlns:p14="http://schemas.microsoft.com/office/powerpoint/2010/main" val="2839969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10EEFBC-F131-8C8B-B7D9-77E3CD99ED49}"/>
              </a:ext>
            </a:extLst>
          </p:cNvPr>
          <p:cNvGraphicFramePr>
            <a:graphicFrameLocks noGrp="1"/>
          </p:cNvGraphicFramePr>
          <p:nvPr>
            <p:ph idx="1"/>
            <p:extLst>
              <p:ext uri="{D42A27DB-BD31-4B8C-83A1-F6EECF244321}">
                <p14:modId xmlns:p14="http://schemas.microsoft.com/office/powerpoint/2010/main" val="140825988"/>
              </p:ext>
            </p:extLst>
          </p:nvPr>
        </p:nvGraphicFramePr>
        <p:xfrm>
          <a:off x="904568" y="545690"/>
          <a:ext cx="10382864" cy="5930900"/>
        </p:xfrm>
        <a:graphic>
          <a:graphicData uri="http://schemas.openxmlformats.org/drawingml/2006/table">
            <a:tbl>
              <a:tblPr>
                <a:tableStyleId>{616DA210-FB5B-4158-B5E0-FEB733F419BA}</a:tableStyleId>
              </a:tblPr>
              <a:tblGrid>
                <a:gridCol w="10382864">
                  <a:extLst>
                    <a:ext uri="{9D8B030D-6E8A-4147-A177-3AD203B41FA5}">
                      <a16:colId xmlns:a16="http://schemas.microsoft.com/office/drawing/2014/main" val="200839888"/>
                    </a:ext>
                  </a:extLst>
                </a:gridCol>
              </a:tblGrid>
              <a:tr h="2293137">
                <a:tc>
                  <a:txBody>
                    <a:bodyPr/>
                    <a:lstStyle/>
                    <a:p>
                      <a:r>
                        <a:rPr lang="en-US" sz="2000" b="1" u="none" kern="50" dirty="0">
                          <a:effectLst/>
                        </a:rPr>
                        <a:t>Project Overview / Background:</a:t>
                      </a:r>
                    </a:p>
                    <a:p>
                      <a:r>
                        <a:rPr lang="en-US" sz="2000" b="1" u="none" kern="50" dirty="0">
                          <a:effectLst/>
                        </a:rPr>
                        <a:t> </a:t>
                      </a:r>
                      <a:r>
                        <a:rPr lang="en-US" sz="2000" kern="50" dirty="0">
                          <a:effectLst/>
                        </a:rPr>
                        <a:t>The Prepaid Meter Project, a pioneering venture designed to revolutionize energy management and enhance safety. Our innovative system employs smart metering technology, enabling users to efficiently monitor and control their energy consumption. With flexible payment options, predictive analytics, and integration of renewable sources, the project ensures sustainability. A prepaid meter with overvoltage protection and alert capabilities is designed to safeguard electrical appliances and notify users of potential risks. In the event of an overvoltage, where the voltage exceeds the safe operating range, the prepaid meter automatically activates protective mechanisms.</a:t>
                      </a:r>
                      <a:endParaRPr lang="en-IN" sz="2000" kern="50" dirty="0">
                        <a:effectLst/>
                        <a:latin typeface="Times New Roman" panose="02020603050405020304" pitchFamily="18" charset="0"/>
                        <a:ea typeface="Lucida Sans Unicode" panose="020B0602030504020204" pitchFamily="34" charset="0"/>
                      </a:endParaRPr>
                    </a:p>
                  </a:txBody>
                  <a:tcPr marL="34925" marR="34925" marT="34925" marB="34925"/>
                </a:tc>
                <a:extLst>
                  <a:ext uri="{0D108BD9-81ED-4DB2-BD59-A6C34878D82A}">
                    <a16:rowId xmlns:a16="http://schemas.microsoft.com/office/drawing/2014/main" val="1996169445"/>
                  </a:ext>
                </a:extLst>
              </a:tr>
              <a:tr h="2355473">
                <a:tc>
                  <a:txBody>
                    <a:bodyPr/>
                    <a:lstStyle/>
                    <a:p>
                      <a:pPr marL="0" lvl="0" indent="0">
                        <a:buFont typeface="Wingdings" panose="05000000000000000000" pitchFamily="2" charset="2"/>
                        <a:buNone/>
                        <a:tabLst>
                          <a:tab pos="457200" algn="l"/>
                        </a:tabLst>
                      </a:pPr>
                      <a:r>
                        <a:rPr lang="en-US" sz="2000" b="1" kern="50" dirty="0">
                          <a:effectLst/>
                        </a:rPr>
                        <a:t>Objective:</a:t>
                      </a:r>
                    </a:p>
                    <a:p>
                      <a:pPr marL="0" lvl="0" indent="0">
                        <a:buFont typeface="Wingdings" panose="05000000000000000000" pitchFamily="2" charset="2"/>
                        <a:buNone/>
                        <a:tabLst>
                          <a:tab pos="457200" algn="l"/>
                        </a:tabLst>
                      </a:pPr>
                      <a:r>
                        <a:rPr lang="en-US" sz="2000" kern="50" dirty="0">
                          <a:effectLst/>
                        </a:rPr>
                        <a:t>1.Enable users to have better control over their energy costs by implementing a prepaid metering system that allows for budgeting and avoidance of unexpected bills.</a:t>
                      </a:r>
                    </a:p>
                    <a:p>
                      <a:pPr marL="0" lvl="0" indent="0">
                        <a:buFont typeface="Wingdings" panose="05000000000000000000" pitchFamily="2" charset="2"/>
                        <a:buNone/>
                        <a:tabLst>
                          <a:tab pos="457200" algn="l"/>
                        </a:tabLst>
                      </a:pPr>
                      <a:r>
                        <a:rPr lang="en-US" sz="2000" kern="50" dirty="0">
                          <a:effectLst/>
                        </a:rPr>
                        <a:t>2.	Integrate innovative solutions, such as predictive analytics and renewable energy integration, to encourage users to adopt sustainable practices and improve overall energy efficiency.</a:t>
                      </a:r>
                    </a:p>
                    <a:p>
                      <a:pPr marL="0" lvl="0" indent="0">
                        <a:buFont typeface="Wingdings" panose="05000000000000000000" pitchFamily="2" charset="2"/>
                        <a:buNone/>
                        <a:tabLst>
                          <a:tab pos="457200" algn="l"/>
                        </a:tabLst>
                      </a:pPr>
                      <a:r>
                        <a:rPr lang="en-US" sz="2000" kern="50" dirty="0">
                          <a:effectLst/>
                        </a:rPr>
                        <a:t>3.	Implement robust overvoltage protection mechanisms to safeguard connected appliances, ensuring user safety and preventing damage to electronic devices during voltage spikes.</a:t>
                      </a:r>
                    </a:p>
                    <a:p>
                      <a:pPr marL="0" lvl="0" indent="0">
                        <a:buFont typeface="Wingdings" panose="05000000000000000000" pitchFamily="2" charset="2"/>
                        <a:buNone/>
                        <a:tabLst>
                          <a:tab pos="457200" algn="l"/>
                        </a:tabLst>
                      </a:pPr>
                      <a:r>
                        <a:rPr lang="en-US" sz="2000" kern="50" dirty="0">
                          <a:effectLst/>
                        </a:rPr>
                        <a:t>4.	Offer users a variety of flexible payment options beyond traditional billing methods, ensuring accessibility and convenience for a diverse consumer base.</a:t>
                      </a:r>
                    </a:p>
                    <a:p>
                      <a:pPr marL="457200" lvl="0" indent="-457200">
                        <a:buFont typeface="Wingdings" panose="05000000000000000000" pitchFamily="2" charset="2"/>
                        <a:buAutoNum type="arabicPeriod" startAt="5"/>
                        <a:tabLst>
                          <a:tab pos="457200" algn="l"/>
                        </a:tabLst>
                      </a:pPr>
                      <a:r>
                        <a:rPr lang="en-US" sz="2000" kern="50" dirty="0">
                          <a:effectLst/>
                        </a:rPr>
                        <a:t>Prioritize user safety by incorporating advanced overvoltage protection features and ensuring that the prepaid metering system adheres to the highest safety standards.</a:t>
                      </a:r>
                    </a:p>
                  </a:txBody>
                  <a:tcPr marL="34925" marR="34925" marT="34925" marB="34925"/>
                </a:tc>
                <a:extLst>
                  <a:ext uri="{0D108BD9-81ED-4DB2-BD59-A6C34878D82A}">
                    <a16:rowId xmlns:a16="http://schemas.microsoft.com/office/drawing/2014/main" val="2403532352"/>
                  </a:ext>
                </a:extLst>
              </a:tr>
            </a:tbl>
          </a:graphicData>
        </a:graphic>
      </p:graphicFrame>
    </p:spTree>
    <p:extLst>
      <p:ext uri="{BB962C8B-B14F-4D97-AF65-F5344CB8AC3E}">
        <p14:creationId xmlns:p14="http://schemas.microsoft.com/office/powerpoint/2010/main" val="3462416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8F3169-D571-D467-29D0-CA20B386933C}"/>
              </a:ext>
            </a:extLst>
          </p:cNvPr>
          <p:cNvGraphicFramePr>
            <a:graphicFrameLocks noGrp="1"/>
          </p:cNvGraphicFramePr>
          <p:nvPr>
            <p:extLst>
              <p:ext uri="{D42A27DB-BD31-4B8C-83A1-F6EECF244321}">
                <p14:modId xmlns:p14="http://schemas.microsoft.com/office/powerpoint/2010/main" val="2088443631"/>
              </p:ext>
            </p:extLst>
          </p:nvPr>
        </p:nvGraphicFramePr>
        <p:xfrm>
          <a:off x="875071" y="108155"/>
          <a:ext cx="10412361" cy="6577780"/>
        </p:xfrm>
        <a:graphic>
          <a:graphicData uri="http://schemas.openxmlformats.org/drawingml/2006/table">
            <a:tbl>
              <a:tblPr firstRow="1" bandRow="1">
                <a:tableStyleId>{073A0DAA-6AF3-43AB-8588-CEC1D06C72B9}</a:tableStyleId>
              </a:tblPr>
              <a:tblGrid>
                <a:gridCol w="10412361">
                  <a:extLst>
                    <a:ext uri="{9D8B030D-6E8A-4147-A177-3AD203B41FA5}">
                      <a16:colId xmlns:a16="http://schemas.microsoft.com/office/drawing/2014/main" val="1119205439"/>
                    </a:ext>
                  </a:extLst>
                </a:gridCol>
              </a:tblGrid>
              <a:tr h="6577780">
                <a:tc>
                  <a:txBody>
                    <a:bodyPr/>
                    <a:lstStyle/>
                    <a:p>
                      <a:r>
                        <a:rPr lang="en-US" dirty="0"/>
                        <a:t> </a:t>
                      </a:r>
                    </a:p>
                    <a:p>
                      <a:endParaRPr lang="en-US" sz="2000" b="1" dirty="0">
                        <a:solidFill>
                          <a:schemeClr val="tx1"/>
                        </a:solidFill>
                      </a:endParaRPr>
                    </a:p>
                    <a:p>
                      <a:endParaRPr lang="en-US" sz="2000" b="1" dirty="0">
                        <a:solidFill>
                          <a:schemeClr val="tx1"/>
                        </a:solidFill>
                      </a:endParaRPr>
                    </a:p>
                    <a:p>
                      <a:r>
                        <a:rPr lang="en-US" sz="2000" b="1" dirty="0">
                          <a:solidFill>
                            <a:schemeClr val="tx1"/>
                          </a:solidFill>
                        </a:rPr>
                        <a:t>Problem Statement:</a:t>
                      </a:r>
                    </a:p>
                    <a:p>
                      <a:r>
                        <a:rPr lang="en-US" sz="2000" b="1" dirty="0">
                          <a:solidFill>
                            <a:schemeClr val="tx1"/>
                          </a:solidFill>
                        </a:rPr>
                        <a:t> </a:t>
                      </a:r>
                      <a:r>
                        <a:rPr lang="en-US" sz="2000" b="0" dirty="0">
                          <a:solidFill>
                            <a:schemeClr val="tx1"/>
                          </a:solidFill>
                        </a:rPr>
                        <a:t>In the current energy landscape, there exists a pressing need for a comprehensive Prepaid Meter Project that addresses the shortcomings of traditional metering systems. Challenges include limited user empowerment, vulnerability to overvoltage, and insufficient tools for efficient energy management. The absence of real-time monitoring, flexible payment options, and sustainable features hinders both consumers and utility providers from optimizing energy usage and ensuring user safety. This project seeks to bridge these gaps by introducing innovative solutions to revolutionize energy management and enhance overvoltage protection in a user-friendly and sustainable manner.</a:t>
                      </a:r>
                    </a:p>
                    <a:p>
                      <a:endParaRPr lang="en-US" sz="2000" b="0" dirty="0">
                        <a:solidFill>
                          <a:schemeClr val="tx1"/>
                        </a:solidFill>
                      </a:endParaRPr>
                    </a:p>
                    <a:p>
                      <a:endParaRPr lang="en-US" sz="2000" b="1"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7057946"/>
                  </a:ext>
                </a:extLst>
              </a:tr>
            </a:tbl>
          </a:graphicData>
        </a:graphic>
      </p:graphicFrame>
    </p:spTree>
    <p:extLst>
      <p:ext uri="{BB962C8B-B14F-4D97-AF65-F5344CB8AC3E}">
        <p14:creationId xmlns:p14="http://schemas.microsoft.com/office/powerpoint/2010/main" val="7358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39C8-4E60-81C8-C39D-8892A9459CB5}"/>
              </a:ext>
            </a:extLst>
          </p:cNvPr>
          <p:cNvSpPr>
            <a:spLocks noGrp="1"/>
          </p:cNvSpPr>
          <p:nvPr>
            <p:ph type="title"/>
          </p:nvPr>
        </p:nvSpPr>
        <p:spPr>
          <a:xfrm>
            <a:off x="838200" y="365125"/>
            <a:ext cx="10515600" cy="765585"/>
          </a:xfrm>
        </p:spPr>
        <p:txBody>
          <a:bodyPr>
            <a:normAutofit/>
          </a:bodyPr>
          <a:lstStyle/>
          <a:p>
            <a:r>
              <a:rPr lang="en-US" sz="2400" b="1" dirty="0">
                <a:latin typeface="+mn-lt"/>
              </a:rPr>
              <a:t>Circuit diagram:</a:t>
            </a:r>
            <a:endParaRPr lang="en-IN" sz="2400" b="1" dirty="0">
              <a:latin typeface="+mn-lt"/>
            </a:endParaRPr>
          </a:p>
        </p:txBody>
      </p:sp>
      <p:pic>
        <p:nvPicPr>
          <p:cNvPr id="3" name="Picture 2">
            <a:extLst>
              <a:ext uri="{FF2B5EF4-FFF2-40B4-BE49-F238E27FC236}">
                <a16:creationId xmlns:a16="http://schemas.microsoft.com/office/drawing/2014/main" id="{B5C442EE-558A-FD07-DDC2-FE49B623AAAC}"/>
              </a:ext>
            </a:extLst>
          </p:cNvPr>
          <p:cNvPicPr>
            <a:picLocks noChangeAspect="1"/>
          </p:cNvPicPr>
          <p:nvPr/>
        </p:nvPicPr>
        <p:blipFill>
          <a:blip r:embed="rId2"/>
          <a:stretch>
            <a:fillRect/>
          </a:stretch>
        </p:blipFill>
        <p:spPr>
          <a:xfrm>
            <a:off x="2185416" y="1130710"/>
            <a:ext cx="7821168" cy="5056632"/>
          </a:xfrm>
          <a:prstGeom prst="rect">
            <a:avLst/>
          </a:prstGeom>
        </p:spPr>
      </p:pic>
    </p:spTree>
    <p:extLst>
      <p:ext uri="{BB962C8B-B14F-4D97-AF65-F5344CB8AC3E}">
        <p14:creationId xmlns:p14="http://schemas.microsoft.com/office/powerpoint/2010/main" val="251044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C971D-DFBD-4584-43E9-D84EA756452F}"/>
              </a:ext>
            </a:extLst>
          </p:cNvPr>
          <p:cNvSpPr>
            <a:spLocks noGrp="1"/>
          </p:cNvSpPr>
          <p:nvPr>
            <p:ph type="title"/>
          </p:nvPr>
        </p:nvSpPr>
        <p:spPr>
          <a:xfrm>
            <a:off x="769374" y="83574"/>
            <a:ext cx="10515600" cy="1325563"/>
          </a:xfrm>
        </p:spPr>
        <p:txBody>
          <a:bodyPr/>
          <a:lstStyle/>
          <a:p>
            <a:r>
              <a:rPr lang="en-IN" dirty="0"/>
              <a:t>Project Description </a:t>
            </a:r>
          </a:p>
        </p:txBody>
      </p:sp>
      <p:graphicFrame>
        <p:nvGraphicFramePr>
          <p:cNvPr id="4" name="Content Placeholder 3">
            <a:extLst>
              <a:ext uri="{FF2B5EF4-FFF2-40B4-BE49-F238E27FC236}">
                <a16:creationId xmlns:a16="http://schemas.microsoft.com/office/drawing/2014/main" id="{D708E2E0-2755-CE2C-D303-054D574DC638}"/>
              </a:ext>
            </a:extLst>
          </p:cNvPr>
          <p:cNvGraphicFramePr>
            <a:graphicFrameLocks noGrp="1"/>
          </p:cNvGraphicFramePr>
          <p:nvPr>
            <p:ph idx="1"/>
            <p:extLst>
              <p:ext uri="{D42A27DB-BD31-4B8C-83A1-F6EECF244321}">
                <p14:modId xmlns:p14="http://schemas.microsoft.com/office/powerpoint/2010/main" val="2043010987"/>
              </p:ext>
            </p:extLst>
          </p:nvPr>
        </p:nvGraphicFramePr>
        <p:xfrm>
          <a:off x="907026" y="1179872"/>
          <a:ext cx="10143930" cy="5388077"/>
        </p:xfrm>
        <a:graphic>
          <a:graphicData uri="http://schemas.openxmlformats.org/drawingml/2006/table">
            <a:tbl>
              <a:tblPr>
                <a:tableStyleId>{793D81CF-94F2-401A-BA57-92F5A7B2D0C5}</a:tableStyleId>
              </a:tblPr>
              <a:tblGrid>
                <a:gridCol w="10143930">
                  <a:extLst>
                    <a:ext uri="{9D8B030D-6E8A-4147-A177-3AD203B41FA5}">
                      <a16:colId xmlns:a16="http://schemas.microsoft.com/office/drawing/2014/main" val="2389422035"/>
                    </a:ext>
                  </a:extLst>
                </a:gridCol>
              </a:tblGrid>
              <a:tr h="5388077">
                <a:tc>
                  <a:txBody>
                    <a:bodyPr/>
                    <a:lstStyle/>
                    <a:p>
                      <a:pPr marL="0" lvl="0" indent="0">
                        <a:buFont typeface="Wingdings" panose="05000000000000000000" pitchFamily="2" charset="2"/>
                        <a:buNone/>
                        <a:tabLst>
                          <a:tab pos="457200" algn="l"/>
                        </a:tabLst>
                      </a:pPr>
                      <a:r>
                        <a:rPr lang="en-US" sz="2000" b="1" kern="50" dirty="0">
                          <a:effectLst/>
                        </a:rPr>
                        <a:t>Technique used:</a:t>
                      </a:r>
                    </a:p>
                    <a:p>
                      <a:pPr marL="342900" lvl="0" indent="-342900">
                        <a:buFont typeface="Wingdings" panose="05000000000000000000" pitchFamily="2" charset="2"/>
                        <a:buChar char="Ø"/>
                        <a:tabLst>
                          <a:tab pos="457200" algn="l"/>
                        </a:tabLst>
                      </a:pPr>
                      <a:r>
                        <a:rPr lang="en-US" sz="2000" b="0" kern="50" dirty="0">
                          <a:effectLst/>
                        </a:rPr>
                        <a:t>Conducted a thorough needs assessment to understand the energy consumption patterns, preferences, and challenges of the target community.</a:t>
                      </a:r>
                    </a:p>
                    <a:p>
                      <a:pPr marL="342900" lvl="0" indent="-342900">
                        <a:buFont typeface="Wingdings" panose="05000000000000000000" pitchFamily="2" charset="2"/>
                        <a:buChar char="Ø"/>
                        <a:tabLst>
                          <a:tab pos="457200" algn="l"/>
                        </a:tabLst>
                      </a:pPr>
                      <a:r>
                        <a:rPr lang="en-US" sz="2000" b="0" kern="50" dirty="0">
                          <a:effectLst/>
                        </a:rPr>
                        <a:t>Installed a meter for real-time energy monitoring, enabling accurate data collection.</a:t>
                      </a:r>
                    </a:p>
                    <a:p>
                      <a:pPr marL="342900" lvl="0" indent="-342900">
                        <a:buFont typeface="Wingdings" panose="05000000000000000000" pitchFamily="2" charset="2"/>
                        <a:buChar char="Ø"/>
                        <a:tabLst>
                          <a:tab pos="457200" algn="l"/>
                        </a:tabLst>
                      </a:pPr>
                      <a:r>
                        <a:rPr lang="en-US" sz="2000" b="0" kern="50" dirty="0">
                          <a:effectLst/>
                        </a:rPr>
                        <a:t>Integrated sensors and automated disconnect features to protect appliances from voltage spikes.</a:t>
                      </a:r>
                    </a:p>
                    <a:p>
                      <a:pPr marL="342900" lvl="0" indent="-342900">
                        <a:buFont typeface="Wingdings" panose="05000000000000000000" pitchFamily="2" charset="2"/>
                        <a:buChar char="Ø"/>
                        <a:tabLst>
                          <a:tab pos="457200" algn="l"/>
                        </a:tabLst>
                      </a:pPr>
                      <a:r>
                        <a:rPr lang="en-US" sz="2000" b="0" kern="50" dirty="0">
                          <a:effectLst/>
                        </a:rPr>
                        <a:t>Developed a secure payment gateway supporting payment cards.</a:t>
                      </a:r>
                    </a:p>
                    <a:p>
                      <a:pPr marL="342900" lvl="0" indent="-342900">
                        <a:buFont typeface="Wingdings" panose="05000000000000000000" pitchFamily="2" charset="2"/>
                        <a:buChar char="Ø"/>
                        <a:tabLst>
                          <a:tab pos="457200" algn="l"/>
                        </a:tabLst>
                      </a:pPr>
                      <a:r>
                        <a:rPr lang="en-US" sz="2000" b="0" kern="50" dirty="0">
                          <a:effectLst/>
                        </a:rPr>
                        <a:t>Implemented features allowing users to access a predefined emergency credit when their balance is critically low.</a:t>
                      </a:r>
                    </a:p>
                    <a:p>
                      <a:pPr marL="0" lvl="0" indent="0">
                        <a:buFont typeface="Wingdings" panose="05000000000000000000" pitchFamily="2" charset="2"/>
                        <a:buNone/>
                        <a:tabLst>
                          <a:tab pos="457200" algn="l"/>
                        </a:tabLst>
                      </a:pPr>
                      <a:endParaRPr lang="en-US" sz="2000" b="1" kern="50" dirty="0">
                        <a:effectLst/>
                      </a:endParaRPr>
                    </a:p>
                    <a:p>
                      <a:pPr marL="0" lvl="0" indent="0">
                        <a:buFont typeface="Wingdings" panose="05000000000000000000" pitchFamily="2" charset="2"/>
                        <a:buNone/>
                        <a:tabLst>
                          <a:tab pos="457200" algn="l"/>
                        </a:tabLst>
                      </a:pPr>
                      <a:r>
                        <a:rPr lang="en-US" sz="2000" b="1" kern="50" dirty="0">
                          <a:effectLst/>
                        </a:rPr>
                        <a:t>Applications:</a:t>
                      </a:r>
                    </a:p>
                    <a:p>
                      <a:pPr marL="0" lvl="0" indent="0">
                        <a:buFont typeface="Wingdings" panose="05000000000000000000" pitchFamily="2" charset="2"/>
                        <a:buNone/>
                        <a:tabLst>
                          <a:tab pos="457200" algn="l"/>
                        </a:tabLst>
                      </a:pPr>
                      <a:r>
                        <a:rPr lang="en-US" sz="2000" b="1" kern="50" dirty="0">
                          <a:effectLst/>
                        </a:rPr>
                        <a:t>•	</a:t>
                      </a:r>
                      <a:r>
                        <a:rPr lang="en-US" sz="2000" b="0" kern="50" dirty="0">
                          <a:effectLst/>
                        </a:rPr>
                        <a:t>Residential Energy Management</a:t>
                      </a:r>
                    </a:p>
                    <a:p>
                      <a:pPr marL="0" lvl="0" indent="0">
                        <a:buFont typeface="Wingdings" panose="05000000000000000000" pitchFamily="2" charset="2"/>
                        <a:buNone/>
                        <a:tabLst>
                          <a:tab pos="457200" algn="l"/>
                        </a:tabLst>
                      </a:pPr>
                      <a:r>
                        <a:rPr lang="en-US" sz="2000" b="0" kern="50" dirty="0">
                          <a:effectLst/>
                        </a:rPr>
                        <a:t>•	Commercial and Industrial Sectors</a:t>
                      </a:r>
                    </a:p>
                    <a:p>
                      <a:pPr marL="0" lvl="0" indent="0">
                        <a:buFont typeface="Wingdings" panose="05000000000000000000" pitchFamily="2" charset="2"/>
                        <a:buNone/>
                        <a:tabLst>
                          <a:tab pos="457200" algn="l"/>
                        </a:tabLst>
                      </a:pPr>
                      <a:r>
                        <a:rPr lang="en-US" sz="2000" b="0" kern="50" dirty="0">
                          <a:effectLst/>
                        </a:rPr>
                        <a:t>•	Smart Cities Initiatives</a:t>
                      </a:r>
                    </a:p>
                    <a:p>
                      <a:pPr marL="0" lvl="0" indent="0">
                        <a:buFont typeface="Wingdings" panose="05000000000000000000" pitchFamily="2" charset="2"/>
                        <a:buNone/>
                        <a:tabLst>
                          <a:tab pos="457200" algn="l"/>
                        </a:tabLst>
                      </a:pPr>
                      <a:r>
                        <a:rPr lang="en-US" sz="2000" b="0" kern="50" dirty="0">
                          <a:effectLst/>
                        </a:rPr>
                        <a:t>•	Energy Conservation Programs</a:t>
                      </a:r>
                    </a:p>
                    <a:p>
                      <a:pPr marL="0" lvl="0" indent="0">
                        <a:buFont typeface="Wingdings" panose="05000000000000000000" pitchFamily="2" charset="2"/>
                        <a:buNone/>
                        <a:tabLst>
                          <a:tab pos="457200" algn="l"/>
                        </a:tabLst>
                      </a:pPr>
                      <a:r>
                        <a:rPr lang="en-US" sz="2000" b="0" kern="50" dirty="0">
                          <a:effectLst/>
                        </a:rPr>
                        <a:t>•	Community Development</a:t>
                      </a:r>
                    </a:p>
                    <a:p>
                      <a:pPr marL="0" lvl="0" indent="0">
                        <a:buFont typeface="Wingdings" panose="05000000000000000000" pitchFamily="2" charset="2"/>
                        <a:buNone/>
                        <a:tabLst>
                          <a:tab pos="457200" algn="l"/>
                        </a:tabLst>
                      </a:pPr>
                      <a:r>
                        <a:rPr lang="en-US" sz="2000" b="0" kern="50" dirty="0">
                          <a:effectLst/>
                        </a:rPr>
                        <a:t>•	Technology Literacy Initiatives</a:t>
                      </a:r>
                    </a:p>
                  </a:txBody>
                  <a:tcPr marL="34925" marR="34925" marT="34925" marB="34925"/>
                </a:tc>
                <a:extLst>
                  <a:ext uri="{0D108BD9-81ED-4DB2-BD59-A6C34878D82A}">
                    <a16:rowId xmlns:a16="http://schemas.microsoft.com/office/drawing/2014/main" val="3147833864"/>
                  </a:ext>
                </a:extLst>
              </a:tr>
            </a:tbl>
          </a:graphicData>
        </a:graphic>
      </p:graphicFrame>
    </p:spTree>
    <p:extLst>
      <p:ext uri="{BB962C8B-B14F-4D97-AF65-F5344CB8AC3E}">
        <p14:creationId xmlns:p14="http://schemas.microsoft.com/office/powerpoint/2010/main" val="3949124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9157-D3C0-A928-E657-DEFBD136B78E}"/>
              </a:ext>
            </a:extLst>
          </p:cNvPr>
          <p:cNvSpPr>
            <a:spLocks noGrp="1"/>
          </p:cNvSpPr>
          <p:nvPr>
            <p:ph type="title"/>
          </p:nvPr>
        </p:nvSpPr>
        <p:spPr>
          <a:xfrm>
            <a:off x="838200" y="722977"/>
            <a:ext cx="10515600" cy="627933"/>
          </a:xfrm>
        </p:spPr>
        <p:txBody>
          <a:bodyPr>
            <a:normAutofit fontScale="90000"/>
          </a:bodyPr>
          <a:lstStyle/>
          <a:p>
            <a:r>
              <a:rPr lang="en-IN" sz="2700" b="1" dirty="0">
                <a:latin typeface="+mn-lt"/>
              </a:rPr>
              <a:t>Project Flowchart</a:t>
            </a:r>
            <a:r>
              <a:rPr lang="en-IN" sz="2400" b="1" dirty="0">
                <a:latin typeface="+mn-lt"/>
              </a:rPr>
              <a:t>:</a:t>
            </a:r>
            <a:br>
              <a:rPr lang="en-IN" dirty="0"/>
            </a:br>
            <a:endParaRPr lang="en-IN" dirty="0"/>
          </a:p>
        </p:txBody>
      </p:sp>
      <p:sp>
        <p:nvSpPr>
          <p:cNvPr id="3" name="Content Placeholder 2">
            <a:extLst>
              <a:ext uri="{FF2B5EF4-FFF2-40B4-BE49-F238E27FC236}">
                <a16:creationId xmlns:a16="http://schemas.microsoft.com/office/drawing/2014/main" id="{411E8FFA-EC7E-DC56-6BE4-BBBA51CAD9F4}"/>
              </a:ext>
            </a:extLst>
          </p:cNvPr>
          <p:cNvSpPr>
            <a:spLocks noGrp="1"/>
          </p:cNvSpPr>
          <p:nvPr>
            <p:ph idx="1"/>
          </p:nvPr>
        </p:nvSpPr>
        <p:spPr>
          <a:xfrm>
            <a:off x="838200" y="1253331"/>
            <a:ext cx="10515600" cy="4351338"/>
          </a:xfrm>
        </p:spPr>
        <p:txBody>
          <a:bodyPr/>
          <a:lstStyle/>
          <a:p>
            <a:endParaRPr lang="en-IN" dirty="0"/>
          </a:p>
        </p:txBody>
      </p:sp>
    </p:spTree>
    <p:extLst>
      <p:ext uri="{BB962C8B-B14F-4D97-AF65-F5344CB8AC3E}">
        <p14:creationId xmlns:p14="http://schemas.microsoft.com/office/powerpoint/2010/main" val="1984320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3E571-7CCA-1C49-5DFC-D817ACFDFD9A}"/>
              </a:ext>
            </a:extLst>
          </p:cNvPr>
          <p:cNvSpPr>
            <a:spLocks noGrp="1"/>
          </p:cNvSpPr>
          <p:nvPr>
            <p:ph type="title"/>
          </p:nvPr>
        </p:nvSpPr>
        <p:spPr/>
        <p:txBody>
          <a:bodyPr>
            <a:normAutofit/>
          </a:bodyPr>
          <a:lstStyle/>
          <a:p>
            <a:r>
              <a:rPr lang="en-US" sz="2800" b="1" dirty="0"/>
              <a:t>Project photos:</a:t>
            </a:r>
            <a:endParaRPr lang="en-IN" sz="2800" b="1" dirty="0"/>
          </a:p>
        </p:txBody>
      </p:sp>
    </p:spTree>
    <p:extLst>
      <p:ext uri="{BB962C8B-B14F-4D97-AF65-F5344CB8AC3E}">
        <p14:creationId xmlns:p14="http://schemas.microsoft.com/office/powerpoint/2010/main" val="1543758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480</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Circuit diagram:</vt:lpstr>
      <vt:lpstr>Project Description </vt:lpstr>
      <vt:lpstr>Project Flowchart: </vt:lpstr>
      <vt:lpstr>Project photos: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Pallavi Verma</dc:creator>
  <cp:lastModifiedBy>harsh gamer</cp:lastModifiedBy>
  <cp:revision>3</cp:revision>
  <dcterms:created xsi:type="dcterms:W3CDTF">2023-11-30T07:48:25Z</dcterms:created>
  <dcterms:modified xsi:type="dcterms:W3CDTF">2026-04-03T09:59:22Z</dcterms:modified>
</cp:coreProperties>
</file>